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3" r:id="rId23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hf547QMHuueY5Dhmk+o8dxGq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3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a05e7a43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ea05e7a43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g3ea05e7a43f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60"/>
              </a:buClr>
              <a:buSzPts val="1100"/>
              <a:buChar char="-"/>
            </a:pPr>
            <a:r>
              <a:rPr lang="en-US" sz="1100">
                <a:solidFill>
                  <a:srgbClr val="444460"/>
                </a:solidFill>
              </a:rPr>
              <a:t>타격감, 사운드 하나하나가 플레이 경험 전체를 좌우한다는 것을 체감. 아이템 획득음, UI 팝업 SFX 등 "당연하다고 생각했던" 요소들이 실제 개발에서는 놓치기 쉬운 디테일이었다.</a:t>
            </a:r>
            <a:endParaRPr sz="1100">
              <a:solidFill>
                <a:srgbClr val="44446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60"/>
              </a:buClr>
              <a:buSzPts val="1100"/>
              <a:buChar char="-"/>
            </a:pPr>
            <a:r>
              <a:t/>
            </a:r>
            <a:endParaRPr sz="1100">
              <a:solidFill>
                <a:srgbClr val="4444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title="KA_Origin_TitleLogo.png"/>
          <p:cNvPicPr preferRelativeResize="0"/>
          <p:nvPr/>
        </p:nvPicPr>
        <p:blipFill rotWithShape="1">
          <a:blip r:embed="rId3">
            <a:alphaModFix amt="14000"/>
          </a:blip>
          <a:srcRect b="0" l="0" r="0" t="0"/>
          <a:stretch/>
        </p:blipFill>
        <p:spPr>
          <a:xfrm>
            <a:off x="4068675" y="1290875"/>
            <a:ext cx="6708626" cy="44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-1678750" y="2320125"/>
            <a:ext cx="3657600" cy="3657600"/>
          </a:xfrm>
          <a:prstGeom prst="ellipse">
            <a:avLst/>
          </a:prstGeom>
          <a:solidFill>
            <a:srgbClr val="100A30">
              <a:alpha val="40000"/>
            </a:srgbClr>
          </a:solidFill>
          <a:ln cap="flat" cmpd="sng" w="12700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60020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김경일의 모험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51460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0" i="1" lang="en-US" sz="4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: Origin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57200" y="3401568"/>
            <a:ext cx="4572000" cy="0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57200" y="35661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 xml:space="preserve">오픈월드 모방형 쿼터뷰 액션 RPG  |  개발 발표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0" y="45720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나상욱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675150"/>
            <a:ext cx="199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0" i="1" lang="en-US" sz="40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나상욱의</a:t>
            </a:r>
            <a:endParaRPr b="0" i="1" sz="4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 title="발표용 KA_Origin 아이콘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g3ea05e7a43f_0_2" title="ka_origin_title_cov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2" cy="482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발표 순서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"/>
          <p:cNvSpPr/>
          <p:nvPr/>
        </p:nvSpPr>
        <p:spPr>
          <a:xfrm>
            <a:off x="411480" y="1280160"/>
            <a:ext cx="548640" cy="53035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11480" y="1344168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15568" y="130759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게임 소개 &amp; 구현 범위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15568" y="1581912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장르, 컨셉, 맵 구성, 전체 시스템 목록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11480" y="1984248"/>
            <a:ext cx="548640" cy="53035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2048256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15568" y="20116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개발 일정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15568" y="2286000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1주차 → 2주차 → 3주차 마일스톤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2688336"/>
            <a:ext cx="548640" cy="53035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1480" y="2752344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15568" y="27157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구현 내용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15568" y="2990088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퀘스트 · 공격강화 · 세이브 · 웨이포인트 · 라이팅/사운드 · 인벤토리 · 미니맵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1480" y="3392424"/>
            <a:ext cx="548640" cy="53035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1480" y="3456432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15568" y="341985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느낀점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15568" y="3694176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연출, 디테일, 밸런스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11480" y="4096512"/>
            <a:ext cx="548640" cy="53035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11480" y="4160520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15568" y="412394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게임 소개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김경일의 모험 : Origin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411480" y="1261872"/>
            <a:ext cx="4069080" cy="338328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94360" y="16916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오픈월드 모방형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쿼터뷰 액션 RPG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94360" y="254203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퀘스트를 따라 다양한 구역을 탐험하며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천호마을에 닥친 위기의 숨겨진 원인을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밝혀 나가는 이야기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94360" y="34747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🗺  탐험  →  퀘스트  →  전투  →  성장  →  보스 처치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663440" y="1261872"/>
            <a:ext cx="4069080" cy="338328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MAP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846320" y="1737360"/>
            <a:ext cx="109728" cy="34747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74920" y="17373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천호마을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46320" y="2286000"/>
            <a:ext cx="109728" cy="34747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74920" y="22860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마력의 황무지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46320" y="2834640"/>
            <a:ext cx="109728" cy="347472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74920" y="28346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어둠 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846320" y="3383280"/>
            <a:ext cx="109728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74920" y="33832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오크 주둔지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46320" y="3931920"/>
            <a:ext cx="109728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74920" y="39319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왕의 무덤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구현 범위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3E"/>
                </a:solidFill>
                <a:latin typeface="Georgia"/>
                <a:ea typeface="Georgia"/>
                <a:cs typeface="Georgia"/>
                <a:sym typeface="Georgia"/>
              </a:rPr>
              <a:t>전체 구현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4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4"/>
          <p:cNvSpPr/>
          <p:nvPr/>
        </p:nvSpPr>
        <p:spPr>
          <a:xfrm>
            <a:off x="411480" y="128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11480" y="1280160"/>
            <a:ext cx="64008" cy="750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57784" y="135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⚔  플레이어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57784" y="164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이동·대쉬·3단 콤보·스태미나·레벨업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91840" y="128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91840" y="1280160"/>
            <a:ext cx="64008" cy="75000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438144" y="135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👾  몬스터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438144" y="164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배회→감지→추격→공격·보스 2페이즈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72200" y="128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172200" y="1280160"/>
            <a:ext cx="64008" cy="7500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318504" y="135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📜  퀘스트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318504" y="164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ScriptableObject 체인·2종 목표 타입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1480" y="206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11480" y="2060160"/>
            <a:ext cx="64008" cy="7500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57784" y="213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🎒  인벤토리·장비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57784" y="242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5부위 장착·3D 마운트·마우스 툴팁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91840" y="206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291840" y="2060160"/>
            <a:ext cx="64008" cy="7500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438144" y="213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💾  세이브·로드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438144" y="242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AES-256 암호화·HMAC 검증·전항목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172200" y="206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72200" y="2060160"/>
            <a:ext cx="64008" cy="750000"/>
          </a:xfrm>
          <a:prstGeom prst="rect">
            <a:avLst/>
          </a:prstGeom>
          <a:solidFill>
            <a:srgbClr val="16A085"/>
          </a:solidFill>
          <a:ln cap="flat" cmpd="sng" w="127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318504" y="213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🗺  웨이포인트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318504" y="242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구역 이동·리스폰 연동·저장 트리거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" y="284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2840160"/>
            <a:ext cx="64008" cy="750000"/>
          </a:xfrm>
          <a:prstGeom prst="rect">
            <a:avLst/>
          </a:prstGeom>
          <a:solidFill>
            <a:srgbClr val="D4AC0D"/>
          </a:solidFill>
          <a:ln cap="flat" cmpd="sng" w="12700">
            <a:solidFill>
              <a:srgbClr val="D4AC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57784" y="291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💡  라이팅 전환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57784" y="320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구역별 블렌딩·포스트프로세싱·ScriptableObject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291840" y="284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291840" y="2840160"/>
            <a:ext cx="64008" cy="750000"/>
          </a:xfrm>
          <a:prstGeom prst="rect">
            <a:avLst/>
          </a:prstGeom>
          <a:solidFill>
            <a:srgbClr val="A93226"/>
          </a:solidFill>
          <a:ln cap="flat" cmpd="sng" w="12700">
            <a:solidFill>
              <a:srgbClr val="A932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438144" y="291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🔊  사운드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438144" y="320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BGM 크로스페이드·27종 SFX·볼륨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72200" y="2840160"/>
            <a:ext cx="278892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72200" y="2840160"/>
            <a:ext cx="64008" cy="750000"/>
          </a:xfrm>
          <a:prstGeom prst="rect">
            <a:avLst/>
          </a:prstGeom>
          <a:solidFill>
            <a:srgbClr val="5D6D7E"/>
          </a:solidFill>
          <a:ln cap="flat" cmpd="sng" w="12700">
            <a:solidFill>
              <a:srgbClr val="5D6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318504" y="2910160"/>
            <a:ext cx="256032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🛒  상점·상자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318504" y="3200160"/>
            <a:ext cx="25603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구매·재고 차감·자동 흡수 애니메이션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411480" y="3620160"/>
            <a:ext cx="8549640" cy="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Google Shape;133;p4"/>
          <p:cNvSpPr/>
          <p:nvPr/>
        </p:nvSpPr>
        <p:spPr>
          <a:xfrm>
            <a:off x="411480" y="3620160"/>
            <a:ext cx="64008" cy="75000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Google Shape;134;p4"/>
          <p:cNvSpPr/>
          <p:nvPr/>
        </p:nvSpPr>
        <p:spPr>
          <a:xfrm>
            <a:off x="557784" y="3695160"/>
            <a:ext cx="80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</a:rPr>
              <a:t>🗺  미니맵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57784" y="3975160"/>
            <a:ext cx="8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</a:rPr>
              <a:t>RenderTexture 오버헤드 카메라 렌더링 맵표시 맵표시 묿마커 실시간 추적 구역별 조명 격리 (MiniMapLightingOverride)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A1050">
              <a:alpha val="30196"/>
            </a:srgbClr>
          </a:solidFill>
          <a:ln cap="flat" cmpd="sng" w="12700">
            <a:solidFill>
              <a:srgbClr val="FFFFFF">
                <a:alpha val="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0"/>
              <a:buFont typeface="Calibri"/>
              <a:buNone/>
            </a:pPr>
            <a:r>
              <a:rPr b="1" i="0" lang="en-US" sz="13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개발 일정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3주 마일스톤 요약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개발 일정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3E"/>
                </a:solidFill>
                <a:latin typeface="Georgia"/>
                <a:ea typeface="Georgia"/>
                <a:cs typeface="Georgia"/>
                <a:sym typeface="Georgia"/>
              </a:rPr>
              <a:t>3주 개발 타임라인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411480" y="1261872"/>
            <a:ext cx="283464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1480" y="1261872"/>
            <a:ext cx="2834640" cy="64008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12984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1주차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15910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 2026.05.22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19842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핵심 전투 루프 구축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8방향 이동 + 쿼터뷰 카메라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27706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3단 콤보 공격 + 히트박스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311810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몬스터 AI (배회→감지→추격→공격)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34655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PlayerHUD + 게임오버 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11480" y="4306824"/>
            <a:ext cx="2834640" cy="475488"/>
          </a:xfrm>
          <a:prstGeom prst="rect">
            <a:avLst/>
          </a:prstGeom>
          <a:solidFill>
            <a:srgbClr val="2471A3">
              <a:alpha val="14901"/>
            </a:srgbClr>
          </a:solidFill>
          <a:ln cap="flat" cmpd="sng" w="9525">
            <a:solidFill>
              <a:srgbClr val="2471A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2920" y="43434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✅ 이동·전투·보상 1차 루프 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337560" y="1261872"/>
            <a:ext cx="283464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337560" y="1261872"/>
            <a:ext cx="2834640" cy="6400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474720" y="12984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2주차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474720" y="15910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진행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474720" y="19842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핵심 컨텐츠 및 시스템 구현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47472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전체 맵 5구역 완성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474720" y="27706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퀘스트·공격강화·타격감 개선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474720" y="311810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황무지·어둠 숲 몬스터 11종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474720" y="34655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웨이포인트 기초·상호작용 시스템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337560" y="4306824"/>
            <a:ext cx="2834640" cy="475488"/>
          </a:xfrm>
          <a:prstGeom prst="rect">
            <a:avLst/>
          </a:prstGeom>
          <a:solidFill>
            <a:srgbClr val="1E8449">
              <a:alpha val="14901"/>
            </a:srgbClr>
          </a:solidFill>
          <a:ln cap="flat" cmpd="sng" w="9525">
            <a:solidFill>
              <a:srgbClr val="1E844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29000" y="43434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핵심 게임플레이 시스템 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63640" y="1261872"/>
            <a:ext cx="283464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263640" y="1261872"/>
            <a:ext cx="2834640" cy="6400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00800" y="12984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3주차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00800" y="15910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 2026.06.07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400800" y="19842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완성도 &amp; Polish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0080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인벤토리·장비·상점·상자 시스템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0" y="27706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세이브/로드 (AES 암호화)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0" y="311810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— 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연출 (구역별 BGM·라이팅 전환)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00800" y="34655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효과음 작업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263640" y="4306824"/>
            <a:ext cx="2834640" cy="475488"/>
          </a:xfrm>
          <a:prstGeom prst="rect">
            <a:avLst/>
          </a:prstGeom>
          <a:solidFill>
            <a:srgbClr val="C9A84C">
              <a:alpha val="14901"/>
            </a:srgbClr>
          </a:solidFill>
          <a:ln cap="flat" cmpd="sng" w="9525">
            <a:solidFill>
              <a:srgbClr val="C9A84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355080" y="43434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✅ 전 구역·퀘스트·몬스터 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00863" y="3846701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— </a:t>
            </a:r>
            <a:r>
              <a:rPr b="0" i="0" lang="en-US" sz="1100" u="none" cap="none" strike="noStrike">
                <a:solidFill>
                  <a:srgbClr val="333350"/>
                </a:solidFill>
                <a:latin typeface="Calibri"/>
                <a:ea typeface="Calibri"/>
                <a:cs typeface="Calibri"/>
                <a:sym typeface="Calibri"/>
              </a:rPr>
              <a:t>보스 포함 전 콘텐츠 마무리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6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0"/>
              <a:buFont typeface="Calibri"/>
              <a:buNone/>
            </a:pPr>
            <a:r>
              <a:rPr b="1" i="0" lang="en-US" sz="13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핵심 구현 내용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기술적 상세 설명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퀘스트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8"/>
          <p:cNvSpPr/>
          <p:nvPr/>
        </p:nvSpPr>
        <p:spPr>
          <a:xfrm>
            <a:off x="411480" y="1261872"/>
            <a:ext cx="4069080" cy="345643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설계 구조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94360" y="17190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ScriptableObject 기반 QuestData 에셋으로 관리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4360" y="21762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PrerequisiteQuest / NextQuest 직접 참조 → Linked-List 구조로 선형 체인 진행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94360" y="26334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한 번에 하나의 퀘스트만 진행 가능 (QuestManager 싱글톤)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94360" y="30906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목표 타입 2가지: KillMonster / CollectItem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94360" y="35478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퀘스트 아이템은 현재 목표일 때만 드롭 (IsCurrentQuestTarget 검사)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94360" y="4005072"/>
            <a:ext cx="3703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완료 보상: 골드 · EXP · 레벨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663440" y="1261872"/>
            <a:ext cx="4069080" cy="345643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상태 전환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solidFill>
            <a:srgbClr val="5D6D7E"/>
          </a:solidFill>
          <a:ln cap="flat" cmpd="sng" w="12700">
            <a:solidFill>
              <a:srgbClr val="5D6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846320" y="175564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858000" y="179222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선행 퀘스트 미완료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5806440" y="210312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4846320" y="2304288"/>
            <a:ext cx="1920240" cy="36576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846320" y="232257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858000" y="23591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수락 가능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5806440" y="2670048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4846320" y="2871216"/>
            <a:ext cx="1920240" cy="36576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846320" y="288950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858000" y="292608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진행 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8"/>
          <p:cNvCxnSpPr/>
          <p:nvPr/>
        </p:nvCxnSpPr>
        <p:spPr>
          <a:xfrm>
            <a:off x="5806440" y="3236976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8"/>
          <p:cNvSpPr/>
          <p:nvPr/>
        </p:nvSpPr>
        <p:spPr>
          <a:xfrm>
            <a:off x="4846320" y="3438144"/>
            <a:ext cx="1920240" cy="36576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846320" y="345643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COMPLETE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858000" y="34930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목표 달성, NPC 방문 대기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>
            <a:off x="5806440" y="3803904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/>
          <p:nvPr/>
        </p:nvSpPr>
        <p:spPr>
          <a:xfrm>
            <a:off x="4846320" y="4005072"/>
            <a:ext cx="1920240" cy="3657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46320" y="4023360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858000" y="405993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완료 → 다음 퀘스트 해금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8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플레이어 공격 강화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9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9"/>
          <p:cNvSpPr/>
          <p:nvPr/>
        </p:nvSpPr>
        <p:spPr>
          <a:xfrm>
            <a:off x="411480" y="1261872"/>
            <a:ext cx="5394960" cy="137160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94360" y="13716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작동 방식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94360" y="1664208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PlayerStats.LevelChanged 이벤트 → PlayerAttackUpgrade.RefreshStage(level) 호출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레벨 이상의 스테이지 중 가장 마지막 것을 선택 → 데미지·범위·이펙트 자동 교체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2743200"/>
            <a:ext cx="8321040" cy="1938528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94360" y="279806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이름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429000" y="27980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해금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434840" y="2798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데미지 배율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989320" y="2798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히트 범위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406640" y="27980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이펙트 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9"/>
          <p:cNvCxnSpPr/>
          <p:nvPr/>
        </p:nvCxnSpPr>
        <p:spPr>
          <a:xfrm>
            <a:off x="502920" y="30906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9"/>
          <p:cNvSpPr/>
          <p:nvPr/>
        </p:nvSpPr>
        <p:spPr>
          <a:xfrm>
            <a:off x="594360" y="3145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기본 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429000" y="31455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Lv.1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434840" y="31455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×1.0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989320" y="31455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680960" y="319125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94360" y="3456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힘이 실린 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429000" y="34564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Lv.10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434840" y="34564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×1.2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989320" y="34564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1.25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680960" y="3502152"/>
            <a:ext cx="201168" cy="201168"/>
          </a:xfrm>
          <a:prstGeom prst="ellipse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94360" y="37673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마력이 깃든 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429000" y="37673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Lv.20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434840" y="37673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×1.45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89320" y="37673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1.4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680960" y="3813048"/>
            <a:ext cx="201168" cy="201168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94360" y="40782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어둠에 잠식된 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429000" y="40782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Lv.30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434840" y="407822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×1.75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989320" y="40782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680960" y="4123944"/>
            <a:ext cx="201168" cy="201168"/>
          </a:xfrm>
          <a:prstGeom prst="ellipse">
            <a:avLst/>
          </a:prstGeom>
          <a:solidFill>
            <a:srgbClr val="F1C40F"/>
          </a:solidFill>
          <a:ln cap="flat" cmpd="sng" w="1270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94360" y="4389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패기를 두른 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429000" y="4389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Lv.40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434840" y="43891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×2.1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989320" y="4389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1.8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680960" y="4434840"/>
            <a:ext cx="201168" cy="201168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9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세이브 / 로드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0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0"/>
          <p:cNvSpPr/>
          <p:nvPr/>
        </p:nvSpPr>
        <p:spPr>
          <a:xfrm>
            <a:off x="411480" y="1261872"/>
            <a:ext cx="5394960" cy="155448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94360" y="1371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🔐  암호화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94360" y="1691640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PBKDF2 (SHA-256, 12만 회) 로 Salt에서 256-bit 암호화 키 + HMAC 키 유도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94360" y="1965960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AES-256-CBC 암호화 → 매 저장마다 새 IV 생성 → 재사용 공격 차단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94360" y="2240280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HMAC-SHA256 서명 → 로드 시 검증 실패 시 변조 파일로 판단 거부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94360" y="2514600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키 캐싱 + 백그라운드 워밍업 → 첫 저장 시 프리징 방지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943600" y="1261872"/>
            <a:ext cx="2788920" cy="192024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126480" y="1371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저장 항목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v  플레이어 (레벨·EXP·골드·HP)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126480" y="200253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v  인벤토리 + 5부위 장비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126480" y="23134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v  퀘스트 진행 상태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12648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v  웨이포인트 언락 현황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126480" y="29352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v  상점 재고 + 열린 상자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11480" y="2907792"/>
            <a:ext cx="8321100" cy="173730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94360" y="30175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저장 흐름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94360" y="3337560"/>
            <a:ext cx="1828800" cy="685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40080" y="3383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CaptureCurrentState()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40080" y="37033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씬 전체 탐색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0"/>
          <p:cNvCxnSpPr/>
          <p:nvPr/>
        </p:nvCxnSpPr>
        <p:spPr>
          <a:xfrm>
            <a:off x="2423160" y="367588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0"/>
          <p:cNvSpPr/>
          <p:nvPr/>
        </p:nvSpPr>
        <p:spPr>
          <a:xfrm>
            <a:off x="2697480" y="3337560"/>
            <a:ext cx="1828800" cy="685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743200" y="3383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JsonUtility.ToJson()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743200" y="37033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직렬화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0"/>
          <p:cNvCxnSpPr/>
          <p:nvPr/>
        </p:nvCxnSpPr>
        <p:spPr>
          <a:xfrm>
            <a:off x="4526280" y="367588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0"/>
          <p:cNvSpPr/>
          <p:nvPr/>
        </p:nvSpPr>
        <p:spPr>
          <a:xfrm>
            <a:off x="4800600" y="3337560"/>
            <a:ext cx="1828800" cy="685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846320" y="3383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EncryptSaveJson()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846320" y="37033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AES 암호화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0"/>
          <p:cNvCxnSpPr/>
          <p:nvPr/>
        </p:nvCxnSpPr>
        <p:spPr>
          <a:xfrm>
            <a:off x="6629400" y="367588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0"/>
          <p:cNvSpPr/>
          <p:nvPr/>
        </p:nvSpPr>
        <p:spPr>
          <a:xfrm>
            <a:off x="6903720" y="3337560"/>
            <a:ext cx="1828800" cy="685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949440" y="3383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File.WriteAllText()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949440" y="37033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디스크 저장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0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웨이포인트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1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1"/>
          <p:cNvSpPr/>
          <p:nvPr/>
        </p:nvSpPr>
        <p:spPr>
          <a:xfrm>
            <a:off x="411480" y="1261872"/>
            <a:ext cx="8321040" cy="100584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94360" y="1371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컴포넌트 구조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94360" y="1664208"/>
            <a:ext cx="2468880" cy="438912"/>
          </a:xfrm>
          <a:prstGeom prst="rect">
            <a:avLst/>
          </a:prstGeom>
          <a:solidFill>
            <a:srgbClr val="27AE60">
              <a:alpha val="70196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WaypointNode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94360" y="19202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ID·타입·스폰포인트 데이터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429000" y="1664208"/>
            <a:ext cx="2468880" cy="438912"/>
          </a:xfrm>
          <a:prstGeom prst="rect">
            <a:avLst/>
          </a:prstGeom>
          <a:solidFill>
            <a:srgbClr val="2471A3">
              <a:alpha val="70196"/>
            </a:srgbClr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WaypointInteractable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429000" y="19202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F키 상호작용 처리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263640" y="1664208"/>
            <a:ext cx="2468880" cy="438912"/>
          </a:xfrm>
          <a:prstGeom prst="rect">
            <a:avLst/>
          </a:prstGeom>
          <a:solidFill>
            <a:srgbClr val="E67E22">
              <a:alpha val="70196"/>
            </a:srgbClr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26364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WaypointManager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263640" y="19202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언락·이동·리스폰 관리 싱글톤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11480" y="2423160"/>
            <a:ext cx="4069080" cy="228600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94360" y="25420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타입별 동작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94360" y="29077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TOWN 타입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여러 목적지 선택 메뉴를 열어 원하는 구역으로 이동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94360" y="36850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 타입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94360" y="39776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인접한 단일 목적지로 즉시 텔레포트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663440" y="2423160"/>
            <a:ext cx="4069080" cy="228600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846320" y="25420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세이브 연동 &amp; 리스폰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846320" y="28803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웨이포인트 상호작용 → SaveManager.SaveGame() 자동 호출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846320" y="331012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잠긴 웨이포인트 → UnlockWaypoint() (상태 저장)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846320" y="373989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활성화된 웨이포인트 → SetLastActivated() (저장)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846320" y="416966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사망 후 리스폰 → 마지막 활성화 포인트 스폰 반환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(없으면 기본 스폰 지점)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1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인벤토리 &amp; 장비 툴팁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2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2"/>
          <p:cNvSpPr/>
          <p:nvPr/>
        </p:nvSpPr>
        <p:spPr>
          <a:xfrm>
            <a:off x="434342" y="1261885"/>
            <a:ext cx="4069200" cy="3456300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94360" y="13716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장비 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94360" y="1691640"/>
            <a:ext cx="1188720" cy="347472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94360" y="17190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Sword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920240" y="17647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 xml:space="preserve">공격력 </a:t>
            </a:r>
            <a:r>
              <a:rPr lang="en-US" sz="1100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94360" y="2148840"/>
            <a:ext cx="1188720" cy="347472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94360" y="21762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Shield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94360" y="2606040"/>
            <a:ext cx="1188720" cy="347472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94360" y="26334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Helmet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594360" y="3063240"/>
            <a:ext cx="1188720" cy="347472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94360" y="30906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Chest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2285940" y="2875792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최대 HP</a:t>
            </a:r>
            <a:r>
              <a:rPr lang="en-US" sz="1100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 xml:space="preserve"> 증가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594360" y="3520440"/>
            <a:ext cx="1188720" cy="347472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94360" y="35478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Legs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94360" y="408736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장착 시 3D 모델이 마운트 포인트에 실제로 붙음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장착 아이템은 인벤토리 슬롯 위에 '장착중' 아이콘 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663440" y="1261872"/>
            <a:ext cx="4069080" cy="345643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아이템 툴팁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846320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런타임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846320" y="19933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씬에 배치 없이 코드로 동적 생성,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활성 Canvas에 자동으로 자식 등록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항상 최상단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846320" y="27432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SetAsLastSibling() → 다른 UI보다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항상 위에 렌더링 보장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846320" y="3218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화면 경계 처리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846320" y="3493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우측·상단에 걸리면 반대 방향으로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자동 반전 + ScreenPadding 클램프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846320" y="39684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표시 내용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846320" y="424281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아이템명 · 설명 · 티어 · ATK/HP 수치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2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12"/>
          <p:cNvCxnSpPr/>
          <p:nvPr/>
        </p:nvCxnSpPr>
        <p:spPr>
          <a:xfrm>
            <a:off x="1816350" y="2334100"/>
            <a:ext cx="3564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12"/>
          <p:cNvCxnSpPr/>
          <p:nvPr/>
        </p:nvCxnSpPr>
        <p:spPr>
          <a:xfrm>
            <a:off x="1816350" y="2752500"/>
            <a:ext cx="322500" cy="2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12"/>
          <p:cNvCxnSpPr/>
          <p:nvPr/>
        </p:nvCxnSpPr>
        <p:spPr>
          <a:xfrm flipH="1" rot="10800000">
            <a:off x="1816350" y="3098100"/>
            <a:ext cx="322500" cy="1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12"/>
          <p:cNvCxnSpPr/>
          <p:nvPr/>
        </p:nvCxnSpPr>
        <p:spPr>
          <a:xfrm flipH="1" rot="10800000">
            <a:off x="1833300" y="3216838"/>
            <a:ext cx="34800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구역별 라이팅 &amp; 사운드 전환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3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3"/>
          <p:cNvSpPr/>
          <p:nvPr/>
        </p:nvSpPr>
        <p:spPr>
          <a:xfrm>
            <a:off x="411480" y="1261872"/>
            <a:ext cx="8321040" cy="80467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94360" y="1371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공통 작동 패턴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94360" y="162763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트리거 콜라이더 진입 → ActiveZones 리스트 갱신 → priority 최우선 존 선택 → 블렌딩/크로스페이드 적용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(구역이 겹칠 때 priority 값으로 우선순위를 명확히 결정)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11480" y="2176272"/>
            <a:ext cx="4069080" cy="2487168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94360" y="2304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💡  라이팅 전환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594360" y="26334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LightingZoneProfile ScriptableObject로 구역별 설정 에셋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94360" y="30175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방향광 색상·강도 → Lerp 블렌딩 (코루틴)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94360" y="3401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RenderSettings.ambientColor 환경광 블렌딩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94360" y="37856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fogColor + fogDensity 블렌딩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94360" y="41696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포스트프로세싱 Volume weight 교차 페이드 (구 → 0, 신 →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663440" y="2176272"/>
            <a:ext cx="4069080" cy="2487168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846320" y="2304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🔊  사운드 전환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846320" y="26334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AudioSource A/B 듀얼 버퍼 크로스페이드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846320" y="30175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PlayBGM() → 현 소스 0으로 fade out,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다음 소스 0→1 fade in (코루틴)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846320" y="3401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AudioMixer.BGMVolume 파라미터 경유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→ 마스터 볼륨과 독립 조절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846320" y="37856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볼륨 설정 PlayerPrefs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846320" y="41696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BGM 4종 (타이틀·마을·사막·숲·던전)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13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3000"/>
              <a:buFont typeface="Calibri"/>
              <a:buNone/>
            </a:pPr>
            <a:r>
              <a:rPr b="1" i="0" lang="en-US" sz="13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느낀점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3주간의 개발을 돌아보며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14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8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느낀점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3E"/>
                </a:solidFill>
                <a:latin typeface="Georgia"/>
                <a:ea typeface="Georgia"/>
                <a:cs typeface="Georgia"/>
                <a:sym typeface="Georgia"/>
              </a:rPr>
              <a:t>개발을 통해 배운 점 / 어려웠던 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5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5"/>
          <p:cNvSpPr/>
          <p:nvPr/>
        </p:nvSpPr>
        <p:spPr>
          <a:xfrm>
            <a:off x="411480" y="1280160"/>
            <a:ext cx="832104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11480" y="1280160"/>
            <a:ext cx="64008" cy="11155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94360" y="1353312"/>
            <a:ext cx="795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🎬  연출과 디테일의 중요성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94360" y="1700784"/>
            <a:ext cx="7955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60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공격 타격감과 게임의 몰입도 및 플레이에 있어서 연출 (빛, 배경음악) 그리고 효과음이 정말 중요하다고 느낌.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11480" y="2514600"/>
            <a:ext cx="832104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11480" y="2514600"/>
            <a:ext cx="64008" cy="111556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94360" y="258775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⚖  밸런스 조절의 어려움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594360" y="2935224"/>
            <a:ext cx="7955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6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4460"/>
                </a:solidFill>
                <a:latin typeface="Calibri"/>
                <a:ea typeface="Calibri"/>
                <a:cs typeface="Calibri"/>
                <a:sym typeface="Calibri"/>
              </a:rPr>
              <a:t xml:space="preserve">다양한 요소들을 집어넣고 싶어 몬스터와 전투를 단순화 -&gt;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11480" y="3749040"/>
            <a:ext cx="832104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11480" y="3749040"/>
            <a:ext cx="64008" cy="1115568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94360" y="382219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🔧  개발 전에 기획을 탄탄하게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94360" y="4169664"/>
            <a:ext cx="7955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6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4460"/>
                </a:solidFill>
                <a:latin typeface="Calibri"/>
                <a:ea typeface="Calibri"/>
                <a:cs typeface="Calibri"/>
                <a:sym typeface="Calibri"/>
              </a:rPr>
              <a:t>기획도 정말 중요하지만 실제로 개발을 진행하면서 유연하고 센스있게 조율을 하는게 중요했음.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15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1A1050">
              <a:alpha val="34901"/>
            </a:srgbClr>
          </a:solidFill>
          <a:ln cap="flat" cmpd="sng" w="12700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 &amp; A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16"/>
          <p:cNvCxnSpPr/>
          <p:nvPr/>
        </p:nvCxnSpPr>
        <p:spPr>
          <a:xfrm>
            <a:off x="2743200" y="3063240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8" name="Google Shape;458;p16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938" y="3170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핵심 구현 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미니맵 시스템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3"/>
          <p:cNvCxnSpPr/>
          <p:nvPr/>
        </p:nvCxnSpPr>
        <p:spPr>
          <a:xfrm>
            <a:off x="411480" y="1115568"/>
            <a:ext cx="832104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3"/>
          <p:cNvSpPr/>
          <p:nvPr/>
        </p:nvSpPr>
        <p:spPr>
          <a:xfrm>
            <a:off x="411480" y="1261872"/>
            <a:ext cx="8321040" cy="804672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94360" y="1371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구현 원리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94360" y="162763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Orthographic 카메라가 플레이어 위 Y=50 고정 위치에서 수직 렌더링 → RenderTexture(MiniMap_RT) → UI RawImage로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(매 프레임 Update에서 카메라 위치·회전을 플레이어 Transform과 동기화)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11480" y="2176272"/>
            <a:ext cx="4069080" cy="2487168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94360" y="2304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🎥  렌더 텍스처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594360" y="26334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minimapCamera.targetTexture = renderTexture (RenderTexture 연결)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94360" y="30175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rotateWithTarget: 카메라 Y회전이 플레이어 방향에 자동 동기화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94360" y="3401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orthographicSize 조정으로 줌인·줌아웃 (ZoomIn/ZoomOut 메서드)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94360" y="37856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Minimap Mask 자식 RawImage에 RenderTexture 연결 → UI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94360" y="41696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N/E/S/W 방향 표시 (카메라 회전 반대 방향으로 역보정)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663440" y="2176272"/>
            <a:ext cx="4069080" cy="2487168"/>
          </a:xfrm>
          <a:prstGeom prst="rect">
            <a:avLst/>
          </a:prstGeom>
          <a:solidFill>
            <a:srgbClr val="1A1A3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846320" y="2304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9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96A"/>
                </a:solidFill>
                <a:latin typeface="Calibri"/>
                <a:ea typeface="Calibri"/>
                <a:cs typeface="Calibri"/>
                <a:sym typeface="Calibri"/>
              </a:rPr>
              <a:t>🗺  퀘스트 마커 &amp; 조명 격리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846320" y="26334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WorldToViewportPoint()로 NPC 위치 → 미니맵 뷰포트 좌표 변환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846320" y="30175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뷰포트 내부: questMarker를 centeredViewport에 정확히 배치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846320" y="3401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뷰포트 외부: edgeIndicator 화살표를 방향 벡터로 테두리에 클램핑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846320" y="37856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QuestAccepted / ReadyToComplete 이벤트 구독 → 마커 자동 갱신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846320" y="41696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 xml:space="preserve">▸ </a:t>
            </a:r>
            <a:r>
              <a:rPr b="0" i="0" lang="en-US" sz="1100" u="none" cap="none" strike="noStrike">
                <a:solidFill>
                  <a:srgbClr val="E8E8F0"/>
                </a:solidFill>
                <a:latin typeface="Calibri"/>
                <a:ea typeface="Calibri"/>
                <a:cs typeface="Calibri"/>
                <a:sym typeface="Calibri"/>
              </a:rPr>
              <a:t>MiniMapLightingOverride: 렌더 전 조명 고정·렌더 후 즉시 복원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13" title="발표용 KA_Origin 아이콘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38" y="164601"/>
            <a:ext cx="822976" cy="82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2026-06-07T09:48:52Z</dcterms:created>
  <dc:creator>PptxGenJS</dc:creator>
</cp:coreProperties>
</file>